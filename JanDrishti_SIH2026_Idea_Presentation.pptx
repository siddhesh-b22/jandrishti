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1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1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defaultTextStyle>
    <a:defPPr lvl="0">
      <a:defRPr lang="en-US"/>
    </a:defPPr>
    <a:lvl1pPr defTabSz="457200" lvl="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defTabSz="457200" lvl="1" marL="45720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defTabSz="457200" lvl="2" marL="91440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defTabSz="457200" lvl="3" marL="137160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defTabSz="457200" lvl="4" marL="1828800" rtl="0" algn="l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defTabSz="914400" eaLnBrk="1" hangingPunct="1" latinLnBrk="0" lvl="5" marL="2286000" rtl="0" algn="l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defTabSz="914400" eaLnBrk="1" hangingPunct="1" latinLnBrk="0" lvl="6" marL="2743200" rtl="0" algn="l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defTabSz="914400" eaLnBrk="1" hangingPunct="1" latinLnBrk="0" lvl="7" marL="3200400" rtl="0" algn="l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defTabSz="914400" eaLnBrk="1" hangingPunct="1" latinLnBrk="0" lvl="8" marL="3657600" rtl="0" algn="l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3600" b="1"/>
              <a:t>JANDRISHTI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sz="4000" b="1"/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200" b="1"/>
              <a:t>Problem Statement ID — </a:t>
            </a:r>
            <a:r>
              <a:rPr sz="2200" b="0"/>
              <a:t>SIH26102</a:t>
            </a:r>
            <a:endParaRPr lang="en-US" dirty="0"/>
          </a:p>
          <a:p>
            <a:r>
              <a:rPr sz="2200" b="1"/>
              <a:t>Problem Statement Title — </a:t>
            </a:r>
            <a:r>
              <a:rPr sz="2200" b="0"/>
              <a:t>MPLADS Parliamentary Intelligence
&amp; Statutory Audit Platform</a:t>
            </a:r>
          </a:p>
          <a:p>
            <a:r>
              <a:rPr sz="2200" b="1"/>
              <a:t>Theme — </a:t>
            </a:r>
            <a:r>
              <a:rPr sz="2200" b="0"/>
              <a:t>Smart Governance &amp; Citizen Empowerment</a:t>
            </a:r>
          </a:p>
          <a:p>
            <a:r>
              <a:rPr sz="2200" b="1"/>
              <a:t>PS Category — </a:t>
            </a:r>
            <a:r>
              <a:rPr sz="2200" b="0"/>
              <a:t>Software</a:t>
            </a:r>
          </a:p>
          <a:p>
            <a:r>
              <a:rPr sz="2200" b="1"/>
              <a:t>Team ID — </a:t>
            </a:r>
            <a:r>
              <a:rPr sz="2200" b="0"/>
              <a:t>[Your Team ID]</a:t>
            </a:r>
          </a:p>
          <a:p>
            <a:r>
              <a:rPr sz="2200" b="1"/>
              <a:t>Team Name — </a:t>
            </a:r>
            <a:r>
              <a:rPr sz="2200" b="0"/>
              <a:t>[Your Team Name]</a:t>
            </a: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sz="3200" b="1"/>
              <a:t>JANDRISHTI — Parliamentary Intelligence Platform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sz="2800" b="1"/>
              <a:t>🎯 Proposed Solution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r>
              <a:rPr sz="1600" b="0"/>
              <a:t>• An enterprise-grade transparency &amp; statutory audit platform for MPLADS (₹5 Cr/year per MP)</a:t>
            </a:r>
          </a:p>
          <a:p>
            <a:r>
              <a:rPr sz="1600" b="0"/>
              <a:t>• End-to-end fund tracking across 542 Lok Sabha + 236 Rajya Sabha constituencies (778 MPs)</a:t>
            </a:r>
          </a:p>
          <a:p>
            <a:r>
              <a:rPr sz="1600" b="0"/>
              <a:t>• Real-time interactive dashboards with D3-Geo geospatial maps for 36 States/UTs</a:t>
            </a:r>
          </a:p>
          <a:p>
            <a:r>
              <a:rPr sz="1600" b="0"/>
              <a:t>• Automated anti-fraud forensics: Benford's Law, MAD Outliers, HHI Vendor Concentration, Fuzzy Duplicate Detection</a:t>
            </a:r>
          </a:p>
          <a:p>
            <a:r>
              <a:rPr sz="1600" b="0"/>
              <a:t>• Role-based workspaces: Citizen → MP → District Collector → State Officer → CAG Auditor</a:t>
            </a:r>
          </a:p>
          <a:p>
            <a:r>
              <a:rPr sz="1600" b="0"/>
              <a:t>• Dual-engine resilience: Supabase PostgreSQL (Cloud) + SQLite (Local Fallback) — zero downtime</a:t>
            </a:r>
          </a:p>
          <a:p>
            <a:r>
              <a:rPr sz="1600" b="0"/>
              <a:t>• 102,437 real works • 82,296 treasury vouchers • 22,377 contractors — 100% verified canonical data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/>
              <a:t>JanDrishti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3600" b="1"/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000" b="1"/>
              <a:t>⚙️ Technology Stack</a:t>
            </a:r>
          </a:p>
          <a:p>
            <a:r>
              <a:rPr sz="1400" b="0"/>
              <a:t>  • Frontend: React 19 + TypeScript 5.7 + Vite 6.1 + Tailwind CSS 3.4</a:t>
            </a:r>
          </a:p>
          <a:p>
            <a:r>
              <a:rPr sz="1400" b="0"/>
              <a:t>  • Geospatial: D3-Geo + TopoJSON (zero Google Maps dependency)</a:t>
            </a:r>
          </a:p>
          <a:p>
            <a:r>
              <a:rPr sz="1400" b="0"/>
              <a:t>  • Charts: Recharts + Lucide React icons</a:t>
            </a:r>
          </a:p>
          <a:p>
            <a:r>
              <a:rPr sz="1400" b="0"/>
              <a:t>  • Backend: FastAPI (Python 3.13) + Uvicorn ASGI + Pydantic v2</a:t>
            </a:r>
          </a:p>
          <a:p>
            <a:r>
              <a:rPr sz="1400" b="0"/>
              <a:t>  • Database: Supabase PostgreSQL 15 (Cloud) + SQLite 3 (Local Fallback)</a:t>
            </a:r>
          </a:p>
          <a:p>
            <a:r>
              <a:rPr sz="1400" b="0"/>
              <a:t>  • Auth: HMAC-SHA256 JWT + RBAC/ABAC hierarchical scoping</a:t>
            </a:r>
          </a:p>
          <a:p/>
          <a:p>
            <a:r>
              <a:rPr sz="2000" b="1"/>
              <a:t>📊 Anomaly Detection Pipeline</a:t>
            </a:r>
          </a:p>
          <a:p>
            <a:r>
              <a:rPr sz="1400" b="0"/>
              <a:t>  • Benford's Law — Chi-square first-digit distribution test on voucher amounts</a:t>
            </a:r>
          </a:p>
          <a:p>
            <a:r>
              <a:rPr sz="1400" b="0"/>
              <a:t>  • MAD (Median Absolute Deviation) — Cost outlier detection per sector/district</a:t>
            </a:r>
          </a:p>
          <a:p>
            <a:r>
              <a:rPr sz="1400" b="0"/>
              <a:t>  • HHI (Herfindahl-Hirschman Index) — Contractor cartelization scoring</a:t>
            </a:r>
          </a:p>
          <a:p>
            <a:r>
              <a:rPr sz="1400" b="0"/>
              <a:t>  • Levenshtein + Jaccard Similarity — Duplicate work description matching</a:t>
            </a:r>
          </a:p>
          <a:p/>
          <a:p>
            <a:r>
              <a:rPr sz="2000" b="1"/>
              <a:t>🏗️ Architecture</a:t>
            </a:r>
          </a:p>
          <a:p>
            <a:r>
              <a:rPr sz="1400" b="0"/>
              <a:t>  • Decoupled SPA (React) ↔ REST API (FastAPI) ↔ Dual-Engine DB</a:t>
            </a:r>
          </a:p>
          <a:p>
            <a:r>
              <a:rPr sz="1400" b="0"/>
              <a:t>  • Zero-Trust Geospatial Scoping — every query jurisdictionally enforced</a:t>
            </a:r>
          </a:p>
          <a:p>
            <a:r>
              <a:rPr sz="1400" b="0"/>
              <a:t>  • Auto-failover circuit breaker from Cloud → Local DB in milliseconds</a:t>
            </a:r>
          </a:p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/>
              <a:t>JanDrishti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3600" b="1"/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2000" b="1"/>
              <a:t>✅ Feasibility Analysis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r>
              <a:rPr sz="1400" b="0"/>
              <a:t>  • Fully functional — 92/92 backend tests passing, production build verified</a:t>
            </a:r>
          </a:p>
          <a:p>
            <a:r>
              <a:rPr sz="1400" b="0"/>
              <a:t>  • Real government data: MoSPI, ECI, CAG, LGD — zero mock data</a:t>
            </a:r>
          </a:p>
          <a:p>
            <a:r>
              <a:rPr sz="1400" b="0"/>
              <a:t>  • Deployable on Render, Vercel, Docker, or NIC MeghRaj sovereign cloud</a:t>
            </a:r>
          </a:p>
          <a:p>
            <a:r>
              <a:rPr sz="1400" b="0"/>
              <a:t>  • Performance: FCP 0.7s • LCP 1.2s • 850 req/s throughput • P50 = 18ms queries</a:t>
            </a:r>
          </a:p>
          <a:p/>
          <a:p>
            <a:r>
              <a:rPr sz="2000" b="1"/>
              <a:t>⚠️ Challenges &amp; Risks</a:t>
            </a:r>
          </a:p>
          <a:p>
            <a:r>
              <a:rPr sz="1400" b="0"/>
              <a:t>  • Cloud latency (100-180ms) from AWS Tokyo — mitigated by NIC on-prem deployment</a:t>
            </a:r>
          </a:p>
          <a:p>
            <a:r>
              <a:rPr sz="1400" b="0"/>
              <a:t>  • Government SSO integration (Aadhaar/MeriPehchan) — planned Phase 2</a:t>
            </a:r>
          </a:p>
          <a:p>
            <a:r>
              <a:rPr sz="1400" b="0"/>
              <a:t>  • Multilingual support (22 scheduled languages) — Bhashini API integration roadmap</a:t>
            </a:r>
          </a:p>
          <a:p>
            <a:r>
              <a:rPr sz="1400" b="0"/>
              <a:t>  • Real-time satellite/drone verification — scoped for CV model Phase 2</a:t>
            </a:r>
          </a:p>
          <a:p/>
          <a:p>
            <a:r>
              <a:rPr sz="2000" b="1"/>
              <a:t>🛡️ Mitigation Strategies</a:t>
            </a:r>
          </a:p>
          <a:p>
            <a:r>
              <a:rPr sz="1400" b="0"/>
              <a:t>  • Dual-engine DB ensures zero-downtime even during cloud outages</a:t>
            </a:r>
          </a:p>
          <a:p>
            <a:r>
              <a:rPr sz="1400" b="0"/>
              <a:t>  • Progressive Web App (PWA) for rural offline access</a:t>
            </a:r>
          </a:p>
          <a:p>
            <a:r>
              <a:rPr sz="1400" b="0"/>
              <a:t>  • Modular microservice architecture allows incremental feature addition</a:t>
            </a:r>
          </a:p>
          <a:p>
            <a:r>
              <a:rPr sz="1400" b="0"/>
              <a:t>  • Statutory compliance: DPDPA 2023 + Cert-IN guidelines enforced</a:t>
            </a:r>
          </a:p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/>
              <a:t>JanDrishti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3600" b="1"/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2000" b="1"/>
              <a:t>🇮🇳 Target Audience &amp; Impact</a:t>
            </a:r>
          </a:p>
          <a:p>
            <a:r>
              <a:rPr sz="1400" b="0"/>
              <a:t>  • 1.4 Billion Citizens — constitutional right-to-information transparency</a:t>
            </a:r>
          </a:p>
          <a:p>
            <a:r>
              <a:rPr sz="1400" b="0"/>
              <a:t>  • 778 MPs — real-time portfolio dashboards with expenditure velocity tracking</a:t>
            </a:r>
          </a:p>
          <a:p>
            <a:r>
              <a:rPr sz="1400" b="0"/>
              <a:t>  • District Collectors/DMs — operational tools for contractor oversight &amp; milestone approval</a:t>
            </a:r>
          </a:p>
          <a:p>
            <a:r>
              <a:rPr sz="1400" b="0"/>
              <a:t>  • MoSPI &amp; CAG — automated proactive auditing replacing 2-3 year post-mortem reviews</a:t>
            </a:r>
          </a:p>
          <a:p/>
          <a:p>
            <a:r>
              <a:rPr sz="2000" b="1"/>
              <a:t>💰 Social &amp; Economic Benefits</a:t>
            </a:r>
          </a:p>
          <a:p>
            <a:r>
              <a:rPr sz="1400" b="0"/>
              <a:t>  • Prevents fund diversion: 1,831 anomaly signals flagged, 68 high-severity cases escalated</a:t>
            </a:r>
          </a:p>
          <a:p>
            <a:r>
              <a:rPr sz="1400" b="0"/>
              <a:t>  • Eliminates contractor cartelization through HHI concentration analysis</a:t>
            </a:r>
          </a:p>
          <a:p>
            <a:r>
              <a:rPr sz="1400" b="0"/>
              <a:t>  • Reduces duplicate billing via automated fuzzy work-description matching</a:t>
            </a:r>
          </a:p>
          <a:p>
            <a:r>
              <a:rPr sz="1400" b="0"/>
              <a:t>  • Accelerates fund utilization — ₹14,280+ Cr tracked across 102,437 works</a:t>
            </a:r>
          </a:p>
          <a:p/>
          <a:p>
            <a:r>
              <a:rPr sz="2000" b="1"/>
              <a:t>🏛️ Governance Benefits</a:t>
            </a:r>
          </a:p>
          <a:p>
            <a:r>
              <a:rPr sz="1400" b="0"/>
              <a:t>  • Replaces static PDF reports with interactive real-time command centers</a:t>
            </a:r>
          </a:p>
          <a:p>
            <a:r>
              <a:rPr sz="1400" b="0"/>
              <a:t>  • 5-tier RBAC/ABAC ensures constitutional governance boundaries</a:t>
            </a:r>
          </a:p>
          <a:p>
            <a:r>
              <a:rPr sz="1400" b="0"/>
              <a:t>  • Geospatial equity analysis exposes rural vs. urban fund allocation skew</a:t>
            </a:r>
          </a:p>
          <a:p>
            <a:r>
              <a:rPr sz="1400" b="0"/>
              <a:t>  • Scalable to 5M+ historic projects across MPLADS, MLALADS, and PMGSY</a:t>
            </a:r>
          </a:p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/>
              <a:t>JanDrishti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3600" b="1"/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2000" b="1"/>
              <a:t>📋 Government Data Sources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r>
              <a:rPr sz="1400" b="0"/>
              <a:t>  • MoSPI — MPLADS Official Portal &amp; Quarterly Fund Release Circulars</a:t>
            </a:r>
          </a:p>
          <a:p>
            <a:r>
              <a:rPr sz="1400" b="0"/>
              <a:t>  • Parliament of India — Lok Sabha &amp; Rajya Sabha Secretariat (778 MP Profiles)</a:t>
            </a:r>
          </a:p>
          <a:p>
            <a:r>
              <a:rPr sz="1400" b="0"/>
              <a:t>  • Election Commission of India — Delimitation boundaries &amp; constituency data</a:t>
            </a:r>
          </a:p>
          <a:p>
            <a:r>
              <a:rPr sz="1400" b="0"/>
              <a:t>  • Local Government Directory (LGD) — Census district &amp; block code mappings</a:t>
            </a:r>
          </a:p>
          <a:p>
            <a:r>
              <a:rPr sz="1400" b="0"/>
              <a:t>  • CAG Performance Audit Reports — MPLADS compliance &amp; unspent fund observations</a:t>
            </a:r>
          </a:p>
          <a:p/>
          <a:p>
            <a:r>
              <a:rPr sz="2000" b="1"/>
              <a:t>📚 Statistical &amp; Algorithmic References</a:t>
            </a:r>
          </a:p>
          <a:p>
            <a:r>
              <a:rPr sz="1400" b="0"/>
              <a:t>  • Benford's Law: Newcomb (1881), Benford (1938) — first-digit frequency distribution</a:t>
            </a:r>
          </a:p>
          <a:p>
            <a:r>
              <a:rPr sz="1400" b="0"/>
              <a:t>  • Herfindahl-Hirschman Index — US DoJ antitrust market concentration metric</a:t>
            </a:r>
          </a:p>
          <a:p>
            <a:r>
              <a:rPr sz="1400" b="0"/>
              <a:t>  • Median Absolute Deviation — Leys et al. (2013) — robust outlier detection</a:t>
            </a:r>
          </a:p>
          <a:p>
            <a:r>
              <a:rPr sz="1400" b="0"/>
              <a:t>  • Levenshtein Distance — fuzzy string matching for duplicate detection</a:t>
            </a:r>
          </a:p>
          <a:p/>
          <a:p>
            <a:r>
              <a:rPr sz="2000" b="1"/>
              <a:t>🔧 Technology References</a:t>
            </a:r>
          </a:p>
          <a:p>
            <a:r>
              <a:rPr sz="1400" b="0"/>
              <a:t>  • React 19 — facebook.github.io/react  |  FastAPI — fastapi.tiangolo.com</a:t>
            </a:r>
          </a:p>
          <a:p>
            <a:r>
              <a:rPr sz="1400" b="0"/>
              <a:t>  • Supabase PostgreSQL — supabase.com  |  D3-Geo — d3js.org</a:t>
            </a:r>
          </a:p>
          <a:p>
            <a:r>
              <a:rPr sz="1400" b="0"/>
              <a:t>  • DPDPA 2023 — Digital Personal Data Protection Act, India</a:t>
            </a:r>
          </a:p>
          <a:p>
            <a:r>
              <a:rPr sz="1400" b="0"/>
              <a:t>  • Cert-IN Guidelines for Cyber Security — cert-in.org.in</a:t>
            </a:r>
          </a:p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100" b="1"/>
              <a:t>JanDrishti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